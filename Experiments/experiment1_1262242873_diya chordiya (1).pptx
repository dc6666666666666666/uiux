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61" r:id="rId3"/>
    <p:sldId id="264" r:id="rId4"/>
    <p:sldId id="262" r:id="rId5"/>
    <p:sldId id="263" r:id="rId6"/>
  </p:sldIdLst>
  <p:sldSz cx="9144000" cy="5143500" type="screen16x9"/>
  <p:notesSz cx="6858000" cy="9144000"/>
  <p:embeddedFontLst>
    <p:embeddedFont>
      <p:font typeface="Google Sans" panose="020B060402020202020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A2881D8-F955-8EF0-FA31-5E826B55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8740B789-679E-1570-B281-62FBCB9F30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84086235-7FFA-9551-9459-AA9CBC566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4327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E6642D5-4231-5A64-A4F5-A0CC3F27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98C18580-1146-CFAE-DC07-4E3B13A55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713F0F22-D06B-8D5C-FA3C-5D21946390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3827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194774E-F4F1-1FF1-4F41-C7CBF642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A3ECB89C-B536-43D6-CD65-5C9396F93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8C254F27-09AD-475E-5750-737D89BF5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8289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CAB7E4A-9A10-3568-0169-4C4F2E0A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>
            <a:extLst>
              <a:ext uri="{FF2B5EF4-FFF2-40B4-BE49-F238E27FC236}">
                <a16:creationId xmlns:a16="http://schemas.microsoft.com/office/drawing/2014/main" id="{AD882AAC-C840-F9C5-36AE-8E68573D1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>
            <a:extLst>
              <a:ext uri="{FF2B5EF4-FFF2-40B4-BE49-F238E27FC236}">
                <a16:creationId xmlns:a16="http://schemas.microsoft.com/office/drawing/2014/main" id="{ABD8732C-4AF8-076D-100A-4A0475A68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1011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Aditi Sharma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53793" y="3591675"/>
            <a:ext cx="2655858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400"/>
            </a:pPr>
            <a:r>
              <a:rPr lang="en-IN" sz="1100" b="1" dirty="0">
                <a:latin typeface="Google Sans"/>
                <a:ea typeface="Google Sans"/>
                <a:cs typeface="Google Sans"/>
                <a:sym typeface="Google Sans"/>
              </a:rPr>
              <a:t>Age:  </a:t>
            </a:r>
            <a:r>
              <a:rPr lang="en-US" sz="11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21</a:t>
            </a:r>
          </a:p>
          <a:p>
            <a:pPr>
              <a:buSzPts val="1400"/>
            </a:pPr>
            <a:r>
              <a:rPr lang="en-IN" sz="1100" b="1" dirty="0">
                <a:latin typeface="Google Sans"/>
                <a:ea typeface="Google Sans"/>
                <a:cs typeface="Google Sans"/>
                <a:sym typeface="Google Sans"/>
              </a:rPr>
              <a:t>Education:  </a:t>
            </a:r>
            <a:r>
              <a:rPr lang="en-US" sz="110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B.Tech</a:t>
            </a:r>
            <a:r>
              <a:rPr lang="en-US" sz="11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Computer </a:t>
            </a:r>
            <a:r>
              <a:rPr lang="en-US" sz="110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Engg</a:t>
            </a:r>
            <a:r>
              <a:rPr lang="en-US" sz="11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.</a:t>
            </a:r>
          </a:p>
          <a:p>
            <a:pPr>
              <a:buSzPts val="1400"/>
            </a:pPr>
            <a:r>
              <a:rPr lang="en-IN" sz="1100" b="1" dirty="0">
                <a:latin typeface="Google Sans"/>
                <a:ea typeface="Google Sans"/>
                <a:cs typeface="Google Sans"/>
                <a:sym typeface="Google Sans"/>
              </a:rPr>
              <a:t>Hometown:  </a:t>
            </a:r>
            <a:r>
              <a:rPr lang="en-US" sz="1100" dirty="0">
                <a:latin typeface="Google Sans"/>
                <a:ea typeface="Google Sans"/>
                <a:cs typeface="Google Sans"/>
                <a:sym typeface="Google Sans"/>
              </a:rPr>
              <a:t>Pune, Maharashtra</a:t>
            </a:r>
          </a:p>
          <a:p>
            <a:pPr>
              <a:buSzPts val="1400"/>
            </a:pPr>
            <a:r>
              <a:rPr lang="en-IN" sz="1100" b="1" dirty="0">
                <a:latin typeface="Google Sans"/>
                <a:ea typeface="Google Sans"/>
                <a:cs typeface="Google Sans"/>
                <a:sym typeface="Google Sans"/>
              </a:rPr>
              <a:t>Family:  </a:t>
            </a:r>
            <a:r>
              <a:rPr lang="en-US" sz="1100" dirty="0">
                <a:latin typeface="Google Sans"/>
                <a:ea typeface="Google Sans"/>
                <a:cs typeface="Google Sans"/>
                <a:sym typeface="Google Sans"/>
              </a:rPr>
              <a:t>Lives with parents and younger brother</a:t>
            </a:r>
          </a:p>
          <a:p>
            <a:pPr>
              <a:buSzPts val="1400"/>
            </a:pPr>
            <a:r>
              <a:rPr lang="en-IN" sz="1100" b="1" dirty="0">
                <a:latin typeface="Google Sans"/>
                <a:ea typeface="Google Sans"/>
                <a:cs typeface="Google Sans"/>
                <a:sym typeface="Google Sans"/>
              </a:rPr>
              <a:t>Occupation: </a:t>
            </a:r>
            <a:r>
              <a:rPr lang="en-US" sz="1100" dirty="0">
                <a:latin typeface="Google Sans"/>
                <a:ea typeface="Google Sans"/>
                <a:cs typeface="Google Sans"/>
                <a:sym typeface="Google Sans"/>
              </a:rPr>
              <a:t>Student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n-US" sz="11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800"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“</a:t>
            </a:r>
            <a:r>
              <a:rPr lang="en-IN" sz="1800" i="1" dirty="0"/>
              <a:t>I want to compare travel options quickly and book the best one without getting confused.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” </a:t>
            </a:r>
            <a:endParaRPr sz="1800" i="1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Search for the cheapest and fastest way to travel.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Compare flights and trains conveniently.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Search for seat availability, timings and fare details.</a:t>
            </a:r>
            <a:endParaRPr lang="en-US" sz="12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Too many filters and crowded interfaces. </a:t>
            </a: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Hidden charges shown only at checkout. </a:t>
            </a: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Pages load slow in peak times. </a:t>
            </a: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Unable to compare various modes of travel.</a:t>
            </a:r>
          </a:p>
        </p:txBody>
      </p:sp>
      <p:sp>
        <p:nvSpPr>
          <p:cNvPr id="61" name="Google Shape;61;p13"/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Aditi is a college student who frequently travels between Pune and Delhi during vacations and holidays. She spends time comparing dates and discounts, but gets frustrated when fares increase before checkout.</a:t>
            </a:r>
            <a:endParaRPr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pic>
        <p:nvPicPr>
          <p:cNvPr id="2" name="Picture 1" descr="Aditi Sharma wishes everyone a very Happy Ganesh Chaturthi!">
            <a:extLst>
              <a:ext uri="{FF2B5EF4-FFF2-40B4-BE49-F238E27FC236}">
                <a16:creationId xmlns:a16="http://schemas.microsoft.com/office/drawing/2014/main" id="{EB881BC2-11D2-C921-3501-65372A905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75" y="468789"/>
            <a:ext cx="2758200" cy="2750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4EDBC83-EE76-4FE5-57A6-F14D1AF7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00BD911-92C9-B21B-566F-F2ED50957C55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C8442583-6AD6-217D-1469-5E1F6B3C2535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/>
                <a:ea typeface="Google Sans"/>
                <a:cs typeface="Google Sans"/>
                <a:sym typeface="Google Sans"/>
              </a:rPr>
              <a:t>Rahul Mehta</a:t>
            </a:r>
            <a:endParaRPr sz="1800" b="1" i="0" u="none" strike="noStrike" cap="none" dirty="0">
              <a:solidFill>
                <a:srgbClr val="1967D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519BC7DF-2F75-67F5-6A3E-8441E133FDCB}"/>
              </a:ext>
            </a:extLst>
          </p:cNvPr>
          <p:cNvSpPr txBox="1"/>
          <p:nvPr/>
        </p:nvSpPr>
        <p:spPr>
          <a:xfrm>
            <a:off x="553793" y="3591675"/>
            <a:ext cx="2655858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Name: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Rahul Mehta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Age: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34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Education: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MBA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Hometown: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Mumbai, Maharashtra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Family: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Married with one child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Occupation: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Sales Manager</a:t>
            </a:r>
            <a:endParaRPr lang="en-US" sz="11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1999B584-4B0C-FF04-54B6-30A7ED64FDE5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800"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“</a:t>
            </a:r>
            <a:r>
              <a:rPr lang="en-IN" sz="18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My booking process should be quick because every minute matters.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” </a:t>
            </a:r>
            <a:endParaRPr sz="1800" i="1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F68F0546-13B6-EF51-B41F-7596A371A9BD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Fast booking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Flexible cancellations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Easy expense tracking</a:t>
            </a:r>
            <a:endParaRPr lang="en-US" sz="14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CFA2803E-6438-37FB-1F50-DDE8FC8F04A4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  <a:endParaRPr sz="1800" b="1" i="0" u="none" strike="noStrike" cap="none" dirty="0">
              <a:solidFill>
                <a:schemeClr val="dk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Long checkout process</a:t>
            </a: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Delayed refunds</a:t>
            </a: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Complicated cancellation policies</a:t>
            </a:r>
          </a:p>
          <a:p>
            <a:pPr marL="1714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Poor customer support</a:t>
            </a:r>
            <a:endParaRPr sz="12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C8D020C2-EB7C-9F3F-BC52-D52F12908A23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Rahul often books flights just hours before meetings. He needs the fastest booking flow possible and values flexible cancellations more than the cheapest fare.</a:t>
            </a:r>
            <a:endParaRPr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pic>
        <p:nvPicPr>
          <p:cNvPr id="2" name="Picture 1" descr="Rahul Sharma (@rahulsharma) / Posts / X">
            <a:extLst>
              <a:ext uri="{FF2B5EF4-FFF2-40B4-BE49-F238E27FC236}">
                <a16:creationId xmlns:a16="http://schemas.microsoft.com/office/drawing/2014/main" id="{8D4E1214-64CD-C285-018E-D0453BC98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50" y="461325"/>
            <a:ext cx="2758200" cy="27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33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9636260-4117-0636-B4C4-7943FB7E8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5E793A4D-4817-6C70-3404-9CFD88A9FBE6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7E6B9134-DE5B-2C00-FE41-674FCCC4DF6D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1967D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Emily Carter</a:t>
            </a:r>
            <a:endParaRPr sz="1800" b="1" i="0" u="none" strike="noStrike" cap="none" dirty="0">
              <a:solidFill>
                <a:srgbClr val="1967D2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6E0CD07C-AEA2-80F0-59E1-A22407515A3A}"/>
              </a:ext>
            </a:extLst>
          </p:cNvPr>
          <p:cNvSpPr txBox="1"/>
          <p:nvPr/>
        </p:nvSpPr>
        <p:spPr>
          <a:xfrm>
            <a:off x="553793" y="3591675"/>
            <a:ext cx="2655858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Name: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Emily Carter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Age: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28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Education: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Master's Degree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Hometown: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London, UK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Family: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Lives alone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Occupation: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Graphic Designer</a:t>
            </a:r>
            <a:endParaRPr lang="en-US" sz="11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CA2D70B3-ED56-62C4-3349-50D33A661EF3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800"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“</a:t>
            </a:r>
            <a:r>
              <a:rPr lang="en-IN" sz="18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 want trustworthy travel information before booking.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” </a:t>
            </a:r>
            <a:endParaRPr sz="1800" i="1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CE164F70-9ACF-9471-EFB6-C7A792E0C7BC}"/>
              </a:ext>
            </a:extLst>
          </p:cNvPr>
          <p:cNvSpPr txBox="1"/>
          <p:nvPr/>
        </p:nvSpPr>
        <p:spPr>
          <a:xfrm>
            <a:off x="3646575" y="1370025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Compare airlines.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Book flights and hotels together.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View prices clearly.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Receive travel updates.</a:t>
            </a:r>
            <a:endParaRPr lang="en-US" sz="14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27CB15C-82A9-5BD4-7468-88A7262927F1}"/>
              </a:ext>
            </a:extLst>
          </p:cNvPr>
          <p:cNvSpPr txBox="1"/>
          <p:nvPr/>
        </p:nvSpPr>
        <p:spPr>
          <a:xfrm>
            <a:off x="6326475" y="1396626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C5221F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Frustrations</a:t>
            </a:r>
            <a:r>
              <a:rPr lang="en" sz="1800" b="1" i="0" u="none" strike="noStrike" cap="none" dirty="0">
                <a:solidFill>
                  <a:schemeClr val="dk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Currency confusion. 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Hidden fees. 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Limited local travel information. 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Complicated refund policies.</a:t>
            </a:r>
            <a:endParaRPr b="1" i="0" u="none" strike="noStrike" cap="none" dirty="0">
              <a:solidFill>
                <a:schemeClr val="dk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79E3AAE7-A230-EA24-6305-0E3F9FDE74EA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Emily is visiting India for the first time. She uses MakeMyTrip to book flights and hotels while traveling in India. She wants reliable travel information, transparent pricing and a smooth booking experience.</a:t>
            </a:r>
            <a:endParaRPr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pic>
        <p:nvPicPr>
          <p:cNvPr id="2" name="Picture 1" descr="Emilia Clarke on the Importance of Female Mentors in the Film Industry and  Paying It Forward | Vogue">
            <a:extLst>
              <a:ext uri="{FF2B5EF4-FFF2-40B4-BE49-F238E27FC236}">
                <a16:creationId xmlns:a16="http://schemas.microsoft.com/office/drawing/2014/main" id="{33F1A7EC-A5C6-A7E7-9AE1-8A6BE348C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74" y="474450"/>
            <a:ext cx="2758199" cy="27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0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63AC156-61FA-F3BC-E0E6-74ED81EA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FC9BF9EC-F6B8-C5D4-76DD-056D78F091CF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9553E3FF-5829-8A92-2F8B-B1E9D45D209E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dirty="0">
                <a:solidFill>
                  <a:srgbClr val="1967D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Neha Verm</a:t>
            </a:r>
            <a:r>
              <a:rPr lang="en" sz="1900" b="1" i="0" u="none" strike="noStrike" cap="none" dirty="0">
                <a:solidFill>
                  <a:srgbClr val="1967D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a</a:t>
            </a:r>
            <a:endParaRPr sz="1800" b="1" i="0" u="none" strike="noStrike" cap="none" dirty="0">
              <a:solidFill>
                <a:srgbClr val="1967D2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79DE020-84CD-143A-24D1-F5349903AA06}"/>
              </a:ext>
            </a:extLst>
          </p:cNvPr>
          <p:cNvSpPr txBox="1"/>
          <p:nvPr/>
        </p:nvSpPr>
        <p:spPr>
          <a:xfrm>
            <a:off x="553793" y="3591675"/>
            <a:ext cx="2655858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Name: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Neha Verma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Age: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40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Education: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Graduate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Hometown: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Delhi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Family: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Husband and two children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Occupation: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Homemaker</a:t>
            </a:r>
            <a:endParaRPr lang="en-US" sz="11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5D925E79-EAE3-23C5-C969-0FA76957B4E8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800"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“</a:t>
            </a:r>
            <a:r>
              <a:rPr lang="en-IN" sz="18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 need one platform where I can book everything for my family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” </a:t>
            </a:r>
            <a:endParaRPr sz="1800" i="1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64AE9A23-BFCC-F41F-5431-32361B78F6FE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Book multiple tickets together.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Find affordable family packages.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Choose preferred seats.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Get reliable travel information.</a:t>
            </a:r>
            <a:endParaRPr lang="en-US" sz="14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D455E23-FFFF-5087-7B2D-C0C60E3FF83B}"/>
              </a:ext>
            </a:extLst>
          </p:cNvPr>
          <p:cNvSpPr txBox="1"/>
          <p:nvPr/>
        </p:nvSpPr>
        <p:spPr>
          <a:xfrm>
            <a:off x="63264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1900" b="1" i="0" u="none" strike="noStrike" cap="none" dirty="0">
                <a:solidFill>
                  <a:srgbClr val="C5221F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Frustrations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     </a:t>
            </a:r>
            <a:endParaRPr lang="en-US" sz="1800" b="1" dirty="0">
              <a:solidFill>
                <a:schemeClr val="dk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  <a:p>
            <a:pPr marL="285750" lvl="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Complex booking forms.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Limited family-friendly filters. 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US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Confusing baggage information.</a:t>
            </a:r>
            <a:endParaRPr lang="en-US" sz="1200" b="1" i="0" u="none" strike="noStrike" cap="none" dirty="0">
              <a:solidFill>
                <a:schemeClr val="dk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66EFA4C6-FDD5-6AA7-97F3-411818EE3B82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Neha books flights, hotels, and airport transfers together for her family vacations. She looks for transparent pricing and family-friendly options without having to navigate multiple pages.</a:t>
            </a:r>
            <a:endParaRPr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pic>
        <p:nvPicPr>
          <p:cNvPr id="2" name="Picture 1" descr="Ms Neha Verma | IIT Kanpur">
            <a:extLst>
              <a:ext uri="{FF2B5EF4-FFF2-40B4-BE49-F238E27FC236}">
                <a16:creationId xmlns:a16="http://schemas.microsoft.com/office/drawing/2014/main" id="{43C5AA1A-F18A-04EF-1A7C-B96D8D96A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50" y="419851"/>
            <a:ext cx="2758200" cy="279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82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86A03F2-B0D0-F199-40F8-8E7683B5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DD173290-5733-E227-B088-129213547951}"/>
              </a:ext>
            </a:extLst>
          </p:cNvPr>
          <p:cNvSpPr/>
          <p:nvPr/>
        </p:nvSpPr>
        <p:spPr>
          <a:xfrm>
            <a:off x="451525" y="461325"/>
            <a:ext cx="2758200" cy="27582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i="0" u="none" strike="noStrike" cap="none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5" name="Google Shape;55;p13">
            <a:extLst>
              <a:ext uri="{FF2B5EF4-FFF2-40B4-BE49-F238E27FC236}">
                <a16:creationId xmlns:a16="http://schemas.microsoft.com/office/drawing/2014/main" id="{3B769F1E-6A7F-A0A2-5126-902A19F8C36F}"/>
              </a:ext>
            </a:extLst>
          </p:cNvPr>
          <p:cNvSpPr txBox="1"/>
          <p:nvPr/>
        </p:nvSpPr>
        <p:spPr>
          <a:xfrm>
            <a:off x="451450" y="3219525"/>
            <a:ext cx="2758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en" sz="1900" b="1" i="0" u="none" strike="noStrike" cap="none" dirty="0">
                <a:solidFill>
                  <a:srgbClr val="1967D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Ra</a:t>
            </a:r>
            <a:r>
              <a:rPr lang="en-IN" sz="1800" b="1" i="0" u="none" strike="noStrike" cap="none" dirty="0">
                <a:solidFill>
                  <a:srgbClr val="1967D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mesh </a:t>
            </a:r>
            <a:r>
              <a:rPr lang="en-IN" sz="1800" b="1" dirty="0">
                <a:solidFill>
                  <a:srgbClr val="1967D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Iyer</a:t>
            </a:r>
            <a:endParaRPr sz="1800" b="1" i="0" u="none" strike="noStrike" cap="none" dirty="0">
              <a:solidFill>
                <a:srgbClr val="1967D2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33C09FB5-9603-1FF8-AF69-A2611624F91D}"/>
              </a:ext>
            </a:extLst>
          </p:cNvPr>
          <p:cNvSpPr txBox="1"/>
          <p:nvPr/>
        </p:nvSpPr>
        <p:spPr>
          <a:xfrm>
            <a:off x="553793" y="3591675"/>
            <a:ext cx="2655858" cy="12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Name: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Ramesh Iyer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Age: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63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Education: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Retired Engineer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Hometown: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Chennai, Tamil Nadu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Family: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Lives with wife</a:t>
            </a:r>
            <a:b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</a:br>
            <a:r>
              <a:rPr lang="en-IN" sz="1100" b="1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Occupation:</a:t>
            </a:r>
            <a:r>
              <a:rPr lang="en-IN" sz="11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 Retired</a:t>
            </a:r>
            <a:endParaRPr lang="en-US" sz="11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E4498B5E-C094-5A84-69E5-CF923233307B}"/>
              </a:ext>
            </a:extLst>
          </p:cNvPr>
          <p:cNvSpPr txBox="1"/>
          <p:nvPr/>
        </p:nvSpPr>
        <p:spPr>
          <a:xfrm>
            <a:off x="3651375" y="461325"/>
            <a:ext cx="5035800" cy="9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800"/>
            </a:pP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“</a:t>
            </a:r>
            <a:r>
              <a:rPr lang="en-IN" sz="18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 prefer simple websites that are easy to understand.</a:t>
            </a:r>
            <a:r>
              <a:rPr lang="en" sz="1800" i="1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” </a:t>
            </a:r>
            <a:endParaRPr sz="1800" i="1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02D6155A-7482-6B2C-F6D1-DB0EA94DD72F}"/>
              </a:ext>
            </a:extLst>
          </p:cNvPr>
          <p:cNvSpPr txBox="1"/>
          <p:nvPr/>
        </p:nvSpPr>
        <p:spPr>
          <a:xfrm>
            <a:off x="3651375" y="1492000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" sz="1900" b="1" i="0" u="none" strike="noStrike" cap="none" dirty="0">
                <a:solidFill>
                  <a:srgbClr val="196702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Goals</a:t>
            </a:r>
            <a:r>
              <a:rPr lang="en" sz="1800" i="0" u="none" strike="noStrike" cap="none" dirty="0">
                <a:solidFill>
                  <a:srgbClr val="000000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 </a:t>
            </a:r>
            <a:endParaRPr lang="en-IN" sz="12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Read information clearly.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Receive booking updates. </a:t>
            </a:r>
          </a:p>
          <a:p>
            <a:pPr marL="311150" lvl="0" indent="-171450">
              <a:buSzPts val="14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Get assistance if required.</a:t>
            </a:r>
            <a:endParaRPr lang="en-US" sz="1400"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8A07DEC5-89F0-F78A-5B83-E60148DADAB7}"/>
              </a:ext>
            </a:extLst>
          </p:cNvPr>
          <p:cNvSpPr txBox="1"/>
          <p:nvPr/>
        </p:nvSpPr>
        <p:spPr>
          <a:xfrm>
            <a:off x="6164475" y="1442025"/>
            <a:ext cx="2522700" cy="19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1900" b="1" i="0" u="none" strike="noStrike" cap="none" dirty="0">
                <a:solidFill>
                  <a:srgbClr val="C5221F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  <a:sym typeface="Google Sans"/>
              </a:rPr>
              <a:t>Frustrations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Small fonts. 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Too many advertisements.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Complex navigation.</a:t>
            </a:r>
          </a:p>
          <a:p>
            <a:pPr marL="171450" lvl="0" indent="-171450"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en-IN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Difficult payment process.</a:t>
            </a:r>
            <a:endParaRPr lang="en-US" sz="1200" b="1" i="0" u="none" strike="noStrike" cap="none" dirty="0">
              <a:solidFill>
                <a:schemeClr val="dk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sp>
        <p:nvSpPr>
          <p:cNvPr id="61" name="Google Shape;61;p13">
            <a:extLst>
              <a:ext uri="{FF2B5EF4-FFF2-40B4-BE49-F238E27FC236}">
                <a16:creationId xmlns:a16="http://schemas.microsoft.com/office/drawing/2014/main" id="{50FACC1E-C005-D765-2858-F3F8B3BD9E94}"/>
              </a:ext>
            </a:extLst>
          </p:cNvPr>
          <p:cNvSpPr txBox="1"/>
          <p:nvPr/>
        </p:nvSpPr>
        <p:spPr>
          <a:xfrm>
            <a:off x="3651375" y="3547775"/>
            <a:ext cx="5197800" cy="1242300"/>
          </a:xfrm>
          <a:prstGeom prst="rect">
            <a:avLst/>
          </a:prstGeom>
          <a:noFill/>
          <a:ln w="28575" cap="flat" cmpd="sng">
            <a:solidFill>
              <a:srgbClr val="FFD9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400"/>
            </a:pPr>
            <a:r>
              <a:rPr lang="en-IN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Ramesh uses MakeMyTrip to book flights when visiting his children in different cities. He values a simple, clutter-free interface with clear instructions, but finds small text and too many on-screen options overwhelming.</a:t>
            </a:r>
            <a:endParaRPr i="0" u="none" strike="noStrike" cap="none" dirty="0">
              <a:solidFill>
                <a:srgbClr val="000000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  <a:sym typeface="Google Sans"/>
            </a:endParaRPr>
          </a:p>
        </p:txBody>
      </p:sp>
      <p:pic>
        <p:nvPicPr>
          <p:cNvPr id="2" name="Picture 1" descr="18,943 Indian Old Man Looking Royalty-Free Images, Stock Photos &amp; Pictures  | Shutterstock">
            <a:extLst>
              <a:ext uri="{FF2B5EF4-FFF2-40B4-BE49-F238E27FC236}">
                <a16:creationId xmlns:a16="http://schemas.microsoft.com/office/drawing/2014/main" id="{410BC734-8E8D-7588-2BC8-5B95AA3D4B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51"/>
          <a:stretch>
            <a:fillRect/>
          </a:stretch>
        </p:blipFill>
        <p:spPr>
          <a:xfrm>
            <a:off x="451450" y="461325"/>
            <a:ext cx="2758200" cy="27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6626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556</Words>
  <Application>Microsoft Office PowerPoint</Application>
  <PresentationFormat>On-screen Show (16:9)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Google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DIYA CHORDIYA</dc:creator>
  <cp:lastModifiedBy>Dia Chordia</cp:lastModifiedBy>
  <cp:revision>3</cp:revision>
  <dcterms:modified xsi:type="dcterms:W3CDTF">2026-08-07T14:45:12Z</dcterms:modified>
</cp:coreProperties>
</file>